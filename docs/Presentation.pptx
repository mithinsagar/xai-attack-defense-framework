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Drift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Before Defense</c:v>
                </c:pt>
                <c:pt idx="1">
                  <c:v>Defense 1</c:v>
                </c:pt>
                <c:pt idx="2">
                  <c:v>Defense 2</c:v>
                </c:pt>
                <c:pt idx="3">
                  <c:v>Defense 3</c:v>
                </c:pt>
                <c:pt idx="4">
                  <c:v>Defense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3.8795000000000003E-2</c:v>
                </c:pt>
                <c:pt idx="1">
                  <c:v>3.96E-3</c:v>
                </c:pt>
                <c:pt idx="2">
                  <c:v>8.4469999999999996E-3</c:v>
                </c:pt>
                <c:pt idx="3">
                  <c:v>1.1453E-2</c:v>
                </c:pt>
                <c:pt idx="4">
                  <c:v>3.4619999999999998E-3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DD-4B71-BD7D-CC34ACE365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43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5EEAD4">
              <a:alpha val="8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XAI ATTACK &amp; DEFENSE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WITH FEW-SHOT LEARNING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study on Explainable AI robustness in cybersecurity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8328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657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Mithin  |  Gokul Ram K  |  Kishore A 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AI &amp; Data Science  •  VIT Chennai  •  Deep Learning DA-3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338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0584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&amp; Motivation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005840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3385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00584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Datasets &amp; Preprocessing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1755648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83664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17556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Base Model Training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846320" y="1755648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883664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40680" y="17556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Explanation Methods (SHAP, LIME, IG)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40080" y="2505456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633472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25054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Attack Framework (4 Attacks)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846320" y="2505456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633472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40680" y="25054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Explanation Drift Metric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40080" y="3255264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338328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4440" y="325526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Few-Shot Vulnerability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4846320" y="3255264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383280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440680" y="325526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Defense Architectures (4 Defenses)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640080" y="4005072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4133088"/>
            <a:ext cx="365760" cy="3657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234440" y="40050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Results &amp; Analysis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4846320" y="4005072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3480" y="4133088"/>
            <a:ext cx="365760" cy="36576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440680" y="40050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MOTIVATION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Explainability Threat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in cybersecurity are black boxes.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methods (SHAP, LIME) explain predictions.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explanations can be ATTACKED.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adversary can: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Keep prediction unchanged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Shift explanation drastically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✦  Mislead security analysts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new domain: Explainability Security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914400"/>
            <a:ext cx="3840480" cy="155448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ATTACK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1234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SSL Certificate, Trustpilot Score, Domain 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Analyst trusts the explanation ✓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651760"/>
            <a:ext cx="3840480" cy="155448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ATTACK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2971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URL Length, Number of Dots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SAME, Explanation SHIFTED 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Analyst misled, dismisses real threat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4572000"/>
            <a:ext cx="80467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project: Attack explanations  →  Measure drift  →  Build defenses  →  Study few-shot vulnerability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86868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8686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05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PhiUSIIL Phishing URL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235,795</a:t>
            </a:r>
            <a:endParaRPr lang="en-US" sz="28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56 → 51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Phishing vs Legitimate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ML Repository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URL-based, HTML-based, Security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86868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86868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1005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 Intrusion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9,537</a:t>
            </a:r>
            <a:endParaRPr lang="en-US" sz="28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474720" y="24231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11 → 10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Attack vs Normal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traffic, Login attempts, Encryption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868680"/>
            <a:ext cx="26517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8686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1005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Fraudulent Online Shops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0936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1,140</a:t>
            </a:r>
            <a:endParaRPr lang="en-US" sz="28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309360" y="24231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26 → 24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Fraud vs Legitimate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Mendeley Data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SSL, Payment, Trustpilot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PIPELINE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98755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25880" y="914400"/>
            <a:ext cx="73152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63040" y="9144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Columns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66160" y="9144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URL, Domain, Title,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Filename, session_id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6479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25880" y="1691640"/>
            <a:ext cx="73152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463040" y="1691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Categorical Encoding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66160" y="16916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Factorization encoding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(avoids dimensionality explosion)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54203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325880" y="2468880"/>
            <a:ext cx="73152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463040" y="24688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566160" y="24688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imputation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missing rate)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31927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325880" y="3246120"/>
            <a:ext cx="73152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463040" y="32461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66160" y="3246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(μ=0, σ=1)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409651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325880" y="4023360"/>
            <a:ext cx="73152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463040" y="40233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566160" y="40233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(random_state=42)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4800600"/>
            <a:ext cx="8046720" cy="2743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URLSimilarityIndex dropped from Phishing dataset — exhibited constant behavior for phishing class, inflating model reliance.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MODEL ARCHITECTURES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8686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058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15544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max_iter=1000, L2 regularization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interpretable, baseline comparison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337560" y="8686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00584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7764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474720" y="15544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estimators, depth=5, lr=0.1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TreeSHAP compatible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172200" y="86868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0058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1228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 (MLP)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309360" y="15544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256→128→64→1 with BN+Dropout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optimizer, BCELoss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XAI &amp; attacks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RESULTS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840480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(Acc / F1)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(Acc / F1)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(Acc / F1)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 / 99.99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99.45 / 99.52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71.59 / 66.79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88.63 / 85.43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86.43 / 82.79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96.49 / 96.52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97.81 / 97.80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87.28 / 88.35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MODELS? WHAT WE EXCLUDED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02920" y="9144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9144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2984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XGBoost; lower accuracy, slower TreeSHAP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9144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9144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2984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KernelSHAP is O(2^d) — infeasible for 51 features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1031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210312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/ RNN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24871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spatial/sequential data, not tabular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00600" y="21031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210312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83480" y="24871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tabular binary classification (&lt;60 features)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2918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2920" y="329184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3675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Non-parametric; no gradients → no gradient-based XAI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00600" y="32918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00600" y="329184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4"/>
          <p:cNvSpPr/>
          <p:nvPr/>
        </p:nvSpPr>
        <p:spPr>
          <a:xfrm>
            <a:off x="49834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83480" y="3675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assumption violated by correlated features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3 models span: Linear (LR) → Ensemble Trees (XGBoost) → Deep Learning (MLP) — covering all major paradigms for tabular data.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MLP ARCHITECTURE &amp; CODE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31520" y="868680"/>
            <a:ext cx="3200400" cy="594360"/>
          </a:xfrm>
          <a:prstGeom prst="rect">
            <a:avLst/>
          </a:prstGeom>
          <a:solidFill>
            <a:srgbClr val="64748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868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 features)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103120" y="1435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600200"/>
            <a:ext cx="3200400" cy="59436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Linear(d,256) + BN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 + Dropout(0.3)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03120" y="2167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331720"/>
            <a:ext cx="3200400" cy="59436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2331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Linear(256,128) + BN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 + Dropout(0.2)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03120" y="2898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3063240"/>
            <a:ext cx="3200400" cy="594360"/>
          </a:xfrm>
          <a:prstGeom prst="rect">
            <a:avLst/>
          </a:prstGeom>
          <a:solidFill>
            <a:srgbClr val="0F766E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3063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Linear(128,64)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03120" y="3630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3794760"/>
            <a:ext cx="3200400" cy="5943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3794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Linear(64,1)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Sigmoid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89120" y="868680"/>
            <a:ext cx="4389120" cy="35204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5720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Code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0" y="118872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MLP(nn.Module):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input_dim):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self.model = nn.Sequential(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nn.Linear(input_dim, 256),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nn.BatchNorm1d(256),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nn.ReLU(),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nn.Dropout(0.3),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nn.Linear(256, 128),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nn.BatchNorm1d(128),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nn.ReLU(),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nn.Dropout(0.2),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nn.Linear(128, 64),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nn.ReLU(),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nn.Linear(64, 1),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nn.Sigmoid()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 METHODS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8686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86868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978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Global  •  Model-Agnostic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5270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values from game theory.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via TreeExplainer for XGBoost.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guarantees.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37490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ϕᵢ = Σ |S|!(n-|S|-1)!/n! [f(S∪{i})-f(S)]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00600" y="8686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86868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978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3776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•  Model-Agnostic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15270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Perturbs input, fits local linear model.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proximity kernel.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Sparse, intuitive explanations.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37760" y="2286000"/>
            <a:ext cx="37490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ξ(x) = argmin L(f,g,πₓ) + Ω(g)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28803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2920" y="28803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Gradients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008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•  Neural Only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35387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gradients along path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baseline to input.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Axiomatic: sensitivity + invariance.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" y="4297680"/>
            <a:ext cx="37490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IGᵢ = (xᵢ-x'ᵢ) × ∫₀¹ ∂f/∂xᵢ dα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00600" y="28803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00600" y="28803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4937760" y="2990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Permutation Importance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93776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 •  Model-Agnostic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37760" y="35387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Shuffles each feature, measures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drop.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effects.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937760" y="4297680"/>
            <a:ext cx="37490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Perf(X) - Perf(X_shuffled)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FRAMEWORK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88720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adversarial strategies targeting explanation integrity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371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Model:  max ||E(x) − E(x+δ)||₁   s.t.  f(x) = f(x+δ),  ||δ||∞ ≤ 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148840"/>
            <a:ext cx="40233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" y="2148840"/>
            <a:ext cx="54864" cy="12344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5156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Top-Feature Perturbation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SHAP top-3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ε = 0.05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stability of most relied-upon features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00600" y="2148840"/>
            <a:ext cx="40233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800600" y="2148840"/>
            <a:ext cx="54864" cy="12344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34924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Prediction-Stable Manipulation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3776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low-importance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ε = 0.10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3776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dangerous: shifts explanation via irrelevant features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566160"/>
            <a:ext cx="40233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02920" y="3566160"/>
            <a:ext cx="54864" cy="12344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611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05156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Gradient-Based Attack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" y="3950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NN gradients to find optimal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direction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attack: exploits model's own sensitivity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800600" y="3566160"/>
            <a:ext cx="40233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800600" y="3566160"/>
            <a:ext cx="54864" cy="12344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3611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34924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Explanation Attack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937760" y="3950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top-5 IG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ε = 0.25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93776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budget: maximum explanation disruption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IMPLEMENTATION CODE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402336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1: Top-Feature Perturbation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111556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perturbed = original.copy()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perturbed[21] += 0.05  # IsHTTPS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perturbed[22] += 0.05  # LineOfCode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perturbed[8]  += 0.05  # NoOfSubDomain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Compute SHAP drift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shap_before = explainer.shap_values(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original.reshape(1,-1))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shap_after = explainer.shap_values(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perturbed.reshape(1,-1))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= np.abs(shap_before - shap_after)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63440" y="822960"/>
            <a:ext cx="402336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3: Gradient-Based Attack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00600" y="111556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torch.tensor(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original.reshape(1,-1),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dtype=torch.float32,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requires_grad=True)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nn_phish(sample)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output.backward()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grads = sample.grad.numpy()[0]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top_feat = np.argsort(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np.abs(grads))[-3:]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Perturb top gradient features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idx in top_feat: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perturbed[idx] += 0.05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402336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Generation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321868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explainer = shap.TreeExplainer(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xgb_phish)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shap_vals = explainer.shap_values(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X_test_phish[:500])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Global importance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shap_mean = np.abs(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shap_vals).mean(axis=0)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Per-feature ranking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shap_table = pd.DataFrame({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"Feature": feature_phish,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"Importance": shap_mean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}).sort_values("Importance",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ascending=False)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2926080"/>
            <a:ext cx="402336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006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 Attribution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00600" y="321868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captum.attr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IntegratedGradients)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IntegratedGradients(nn_phish)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input_t = torch.tensor(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sample.reshape(1,-1),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dtype=torch.float32)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attr, delta = ig.attribute(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return_convergence_delta=True)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 = np.abs(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attr.detach().numpy()[0])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delta → convergence quality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 DRIFT METRIC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86868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D(x, ε)  =  (1/d)  Σᵢ  |Eᵢ(x)  −  Eᵢ(x + δ)|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number of features,   Eᵢ(x) = absolute attribution of feature i,   δ = adversarial perturbation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WALK-THROUGH (Phishing Test Sample #0)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3840480" cy="219456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ATTACK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0175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P(phishing) = 0.997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Features: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HasObfuscation    0.1823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IsHTTPS           0.1456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LineOfCode        0.0934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NoOfSubDomain     0.0812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DomainLength      0.0567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651760"/>
            <a:ext cx="3840480" cy="219456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ATTACK 1 (ε = 0.05)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00600" y="30175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P(phishing) = 0.996 ✓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SHAP:          Drift: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HasObfuscation 0.154  0.028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IsHTTPS        0.179  0.033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LineOfCode     0.062  0.031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Drift: 0.0388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LEARNING: PROTOTYPICAL NETWORK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42062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Prototypical Network Architecture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188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Training (2-way, 5-shot, 10-query):</a:t>
            </a:r>
            <a:endParaRPr lang="en-US" sz="1100" dirty="0"/>
          </a:p>
          <a:p>
            <a:pPr marL="0" indent="0">
              <a:buNone/>
            </a:pPr>
            <a:r>
              <a:rPr lang="en-US" sz="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Sample support set (5 samples/class)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Sample query set (10 samples/class)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Encode all through Encoder (d→128→64)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class prototypes (mean of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support embeddings per class)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Classify queries by nearest prototype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(negative squared Euclidean distance)</a:t>
            </a:r>
            <a:endParaRPr lang="en-US" sz="1100" dirty="0"/>
          </a:p>
          <a:p>
            <a:pPr marL="0" indent="0">
              <a:buNone/>
            </a:pPr>
            <a:r>
              <a:rPr lang="en-US" sz="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episodes  •  Adam lr=0.001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822960"/>
            <a:ext cx="3931920" cy="2331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83480" y="6949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+ Prototype Code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83480" y="996696"/>
            <a:ext cx="36576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Encoder(nn.Module):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input_dim):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self.net = nn.Sequential(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nn.Linear(input_dim, 128),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nn.ReLU(),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nn.Linear(128, 64))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compute_prototypes(x, y):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classes = torch.unique(y)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torch.stack(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[x[y==c].mean(0)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for c in classes])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Classify: negative distance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((qe.unsqueeze(1)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proto.unsqueeze(0))**2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).sum(2)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-dist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33375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 DRIFT UNDER ATTACK (IG Attributions on Prototypical Network)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" y="3749040"/>
            <a:ext cx="18288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360" y="374904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" y="3822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(ε=0.1)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7512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measured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IG before/after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606040" y="3749040"/>
            <a:ext cx="18288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2606040" y="374904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2679192" y="3822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679192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Feature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(ε=0.2)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679192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measured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IG before/after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617720" y="3749040"/>
            <a:ext cx="18288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4617720" y="3749040"/>
            <a:ext cx="18288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4690872" y="3822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90872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(ε=0.1·sign)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90872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measured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IG before/after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629400" y="3749040"/>
            <a:ext cx="18288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6"/>
          <p:cNvSpPr/>
          <p:nvPr/>
        </p:nvSpPr>
        <p:spPr>
          <a:xfrm>
            <a:off x="6629400" y="374904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6702552" y="3822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702552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(ε=0.3)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02552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measured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IG before/after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4" name="Text 31"/>
          <p:cNvSpPr/>
          <p:nvPr/>
        </p:nvSpPr>
        <p:spPr>
          <a:xfrm>
            <a:off x="594360" y="47091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attack (Attack 3) causes highest drift  •  Low-feature attack has minimal impact  •  Few-shot models rely heavily on dominant features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ARCHITECTURES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887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progressively stronger defense mechanisms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40233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371600"/>
            <a:ext cx="54864" cy="15544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Stability Training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79476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Gaussian noise, penalize output difference.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smooth representations.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2377440"/>
            <a:ext cx="3749040" cy="411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377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L_CE + 0.1 × ||f(x) − f(x+N(0,0.01²))||₁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800600" y="1371600"/>
            <a:ext cx="40233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800600" y="1371600"/>
            <a:ext cx="54864" cy="15544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3949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Adversarial Training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9244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3776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adversarial examples.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prediction robustness.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937760" y="2377440"/>
            <a:ext cx="3749040" cy="411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2377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L_CE + 0.5 × L_CE(f(x+N(0,0.05²)), y)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02920" y="3108960"/>
            <a:ext cx="40233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3108960"/>
            <a:ext cx="54864" cy="15544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972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 Regularization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79476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3520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penalize IG attribution drift.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principled but expensive.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" y="4114800"/>
            <a:ext cx="3749040" cy="411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L_CE + 0.2 × ||IG(x) − IG(x+noise)||₁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800600" y="3108960"/>
            <a:ext cx="40233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800600" y="310896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0"/>
          <p:cNvSpPr/>
          <p:nvPr/>
        </p:nvSpPr>
        <p:spPr>
          <a:xfrm>
            <a:off x="493776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D4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3949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Defense ★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09244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937760" y="3520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three mechanisms.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performance.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937760" y="4114800"/>
            <a:ext cx="3749040" cy="4114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02920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L_CE + 0.2×Stability + 0.2×Adv + 0.1×Smooth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IMPLEMENTATION CODE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4023360" cy="40233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4: Hybrid Loss (Best)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" y="11430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Stability loss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noise_s = torch.randn_like(X) * 0.01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out_s = model(X + noise_s)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stability = torch.mean(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torch.abs(output - out_s))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Adversarial loss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noise_a = torch.randn_like(X) * 0.05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out_a = model(X + noise_a)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adv_loss = loss_fn(out_a, y_train)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Smoothness loss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 = torch.mean(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torch.abs(out_s - out_a))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Combined hybrid loss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(loss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+ 0.2 * stability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+ 0.2 * adv_loss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+ 0.1 * smooth)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total.backward()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63440" y="822960"/>
            <a:ext cx="402336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RobustMLP_v2 Architecture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00600" y="11430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RobustMLP_v2(nn.Module):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input_dim):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self.model = nn.Sequential(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nn.Linear(input_dim, 256),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nn.BatchNorm1d(256),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nn.ReLU(),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nn.Dropout(0.3),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nn.Linear(256, 128),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nn.BatchNorm1d(128),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nn.ReLU(),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nn.Dropout(0.3),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nn.Linear(128, 64),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nn.ReLU(),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nn.Linear(64, 2)  # 2-class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3566160"/>
            <a:ext cx="4023360" cy="12801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36393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2-class output (CrossEntropy) enables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targeted IG attribution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 noise levels: σ=0.01 (stability),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σ=0.02 (explanation), σ=0.05 (adversarial)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epochs, Adam lr=0.001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RESULTS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82296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822960"/>
            <a:ext cx="30175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897880" y="822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0.0388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498080" y="8229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Defense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60720" y="1737360"/>
            <a:ext cx="30175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897880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0.0035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7498080" y="1737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4 (Best)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760720" y="2651760"/>
            <a:ext cx="30175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89788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91.1%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498080" y="2651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4 ROBUSTNESS ACROSS ALL ATTACKS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31920"/>
          <a:ext cx="813816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(D4)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0.002097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Importance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0.003537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0.007348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 &amp; INSIGHTS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8686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97840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XAI Explanations Are Fragile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12648" y="13258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3 datasets and 3 models, explanations can be significantly shifted with perturbations as small as ε = 0.05 while predictions remain stable.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800600" y="8686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97840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0352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Attacks Are Most Dangerous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10328" y="13258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3 consistently produces the highest drift by exploiting the model's own gradient landscape — hardest to defend against even after defense.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02920" y="22402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2350008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= Amplified Vulnerability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12648" y="26974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with 50 samples/class exhibit 60-80% higher explanation drift. Limited data creates unstable decision boundaries and erratic gradients.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800600" y="22402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350008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03520" y="2313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Defense Is Most Effective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910328" y="26974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4 achieves 91.1% drift reduction by combining stability, adversarial, and smoothness losses. Single mechanisms alone cap at ~89.8%.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2920" y="36118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3721608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5840" y="3685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Stability &gt; Adversarial for Explanations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12648" y="4069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1 (stability) outperforms Defense 2 (adversarial) for explanation robustness. Adversarial training improves prediction robustness but not explanation stability.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800600" y="36118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3721608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03520" y="3685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Rankings Persist After Defense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4910328" y="4069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3 (gradient) &gt; Attack 4 (targeted) &gt; Attack 2 (low-imp) &gt; Attack 1 (top-feat) — ranking unchanged before and after defense.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DIRECTIONS &amp; EXTENSIONS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86868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86868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TabNet, LightGBM, CatBoost,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86868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86868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multi-step, Carlini &amp; Wagner,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attacks on explanations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23774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237744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2880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robustness (randomized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smoothing), explanation ensembling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00600" y="23774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237744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37760" y="2880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intersection, Kendall Tau,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Lipschitz constant estimation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023360"/>
            <a:ext cx="8138160" cy="8229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scope: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classification, larger datasets (CICIDS-2017, NSL-KDD), real-time explanation monitoring for production systems, meta-learning defenses (MAML) for few-shot robustness.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PIPELINE SUMMARY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12801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05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2004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1965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235K + 9.5K + 1.1K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54480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19072" y="914400"/>
            <a:ext cx="12801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84832" y="1005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764792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764792" y="1965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XGBoost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99232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163824" y="914400"/>
            <a:ext cx="12801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29584" y="1005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3529584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209544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09544" y="1965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IG, Permutation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43984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608576" y="914400"/>
            <a:ext cx="12801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974336" y="1005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2"/>
          <p:cNvSpPr/>
          <p:nvPr/>
        </p:nvSpPr>
        <p:spPr>
          <a:xfrm>
            <a:off x="4974336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654296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654296" y="1965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0.05-0.25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888736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053328" y="914400"/>
            <a:ext cx="12801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19088" y="1005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6419088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099048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099048" y="1965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samples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60-80% ↑ drift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333488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498080" y="914400"/>
            <a:ext cx="12801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863840" y="1005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4"/>
          <p:cNvSpPr/>
          <p:nvPr/>
        </p:nvSpPr>
        <p:spPr>
          <a:xfrm>
            <a:off x="786384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754380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Defend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543800" y="1965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defenses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 reduction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4008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CONTRIBUTIONS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31520" y="338328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39"/>
          <p:cNvSpPr/>
          <p:nvPr/>
        </p:nvSpPr>
        <p:spPr>
          <a:xfrm>
            <a:off x="73152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097280" y="33375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Multi-dataset, multi-model, multi-attack comprehensive study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731520" y="37947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5" name="Text 42"/>
          <p:cNvSpPr/>
          <p:nvPr/>
        </p:nvSpPr>
        <p:spPr>
          <a:xfrm>
            <a:off x="73152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097280" y="3749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Explanation Drift Metric D(x,ε) for quantifying manipulation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31520" y="42062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45"/>
          <p:cNvSpPr/>
          <p:nvPr/>
        </p:nvSpPr>
        <p:spPr>
          <a:xfrm>
            <a:off x="731520" y="4206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097280" y="41605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few-shot XAI vulnerability analysis (60-80% amplification)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31520" y="461772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1" name="Text 48"/>
          <p:cNvSpPr/>
          <p:nvPr/>
        </p:nvSpPr>
        <p:spPr>
          <a:xfrm>
            <a:off x="7315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1097280" y="45720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Defense achieving 91.1% explanation drift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5EEAD4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02336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3×3×4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57400" y="1325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× Models × Attacks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evaluation framework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02336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91.1%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55080" y="1325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drift reduction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Defense (D4) performance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402336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60-80%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57400" y="2880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 vulnerability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few-shot learning models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743200"/>
            <a:ext cx="402336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834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55080" y="2880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defense architectures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progressive strengthening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22860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must be secured — not just accurate.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914400"/>
            <a:ext cx="5486400" cy="54864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5EEAD4">
              <a:alpha val="7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7315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Mithin  •  Gokul Ram K  •  Kishore A G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  •  Deep Learning DA-3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2834</Words>
  <Application>Microsoft Office PowerPoint</Application>
  <PresentationFormat>On-screen Show (16:9)</PresentationFormat>
  <Paragraphs>556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XAI Attack &amp; Defense Framework</dc:title>
  <dc:subject>PptxGenJS Presentation</dc:subject>
  <dc:creator>Mithin, Gokul Ram K, Kishore A G</dc:creator>
  <cp:lastModifiedBy>Mithin Sagar</cp:lastModifiedBy>
  <cp:revision>2</cp:revision>
  <dcterms:created xsi:type="dcterms:W3CDTF">2026-04-16T01:45:55Z</dcterms:created>
  <dcterms:modified xsi:type="dcterms:W3CDTF">2026-04-16T02:15:03Z</dcterms:modified>
</cp:coreProperties>
</file>